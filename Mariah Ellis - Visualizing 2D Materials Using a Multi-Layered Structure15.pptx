
<file path=[Content_Types].xml><?xml version="1.0" encoding="utf-8"?>
<Types xmlns="http://schemas.openxmlformats.org/package/2006/content-types">
  <Default Extension="fna&amp;_nc_ss=7b6a8&amp;oh=03_Q7cD5wEALx9OCALb0WESomyFIqpaRDRnO3TXo2l2YinaB5WQFA&amp;oe=6A874355" ContentType="image/jpeg"/>
  <Default Extension="fna&amp;_nc_ss=7b6a8&amp;oh=03_Q7cD5wEchVVZ4f4XDp533E1o1v4msyiWiOg1MAXE9zWuUm4p6g&amp;oe=6A8719EB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4" r:id="rId4"/>
    <p:sldId id="258" r:id="rId5"/>
    <p:sldId id="276" r:id="rId6"/>
    <p:sldId id="259" r:id="rId7"/>
    <p:sldId id="260" r:id="rId8"/>
    <p:sldId id="261" r:id="rId9"/>
    <p:sldId id="271" r:id="rId10"/>
    <p:sldId id="265" r:id="rId11"/>
    <p:sldId id="266" r:id="rId12"/>
    <p:sldId id="278" r:id="rId13"/>
    <p:sldId id="273" r:id="rId14"/>
    <p:sldId id="277" r:id="rId15"/>
    <p:sldId id="279" r:id="rId16"/>
    <p:sldId id="275" r:id="rId17"/>
    <p:sldId id="272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444" autoAdjust="0"/>
  </p:normalViewPr>
  <p:slideViewPr>
    <p:cSldViewPr snapToGrid="0">
      <p:cViewPr>
        <p:scale>
          <a:sx n="90" d="100"/>
          <a:sy n="90" d="100"/>
        </p:scale>
        <p:origin x="139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A8AC0-0FBD-4A3E-87FE-8BE9C2A672A5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1A4F5-1B17-4BA4-9799-FFF440F60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3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took 35 minutes to take? Yes!</a:t>
            </a:r>
            <a:br>
              <a:rPr lang="en-US" dirty="0"/>
            </a:br>
            <a:r>
              <a:rPr lang="en-US" dirty="0"/>
              <a:t>Added “ultra-thin”/”optical microscope”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1A4F5-1B17-4BA4-9799-FFF440F60F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37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hitting the </a:t>
            </a:r>
          </a:p>
          <a:p>
            <a:r>
              <a:rPr lang="en-US" dirty="0"/>
              <a:t>Color/density. Density is darkness/lightness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1A4F5-1B17-4BA4-9799-FFF440F60F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27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Python is an open-source language that is easily accessible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1A4F5-1B17-4BA4-9799-FFF440F60F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52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Amplitude coefficients: contain magnitude and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Power coefficients: explain how the light reflects and is transmitted as wave moves through an interface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1A4F5-1B17-4BA4-9799-FFF440F60F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11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two types of coefficients : s polarization and p polarization</a:t>
            </a:r>
          </a:p>
          <a:p>
            <a:r>
              <a:rPr lang="en-US" dirty="0"/>
              <a:t>Point out 4% R at normal incidence. R approaches 100% at grazing incidence. Rp is zero at </a:t>
            </a:r>
            <a:r>
              <a:rPr lang="en-US" dirty="0" err="1"/>
              <a:t>Brewetser’s</a:t>
            </a:r>
            <a:r>
              <a:rPr lang="en-US" dirty="0"/>
              <a:t> angle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1A4F5-1B17-4BA4-9799-FFF440F60F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18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9201-F48E-ADE1-357C-B0361B362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03C4C-F873-16D6-74F2-D19C5835F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1FF2A-E9BA-479B-53DE-F4DB377C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DA2EB-FE3A-AADC-0956-3721D7360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9F707-1363-E769-0685-92B31A03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20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5522-618A-58FE-55B6-04B1FB366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776EE-E305-0E3F-3159-FC012562D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BB691-0153-6B0A-C299-F5D58DED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C741C-FBA2-6ADC-B715-337B6F7D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2F3F1-D824-2105-B352-AB280465C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34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D4325-09C9-90B2-0442-254D87F5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44FAE-82FB-5519-0613-6FDB0E520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0011E-748F-37E6-F0ED-CB8292F6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05AC7-66FF-7F7F-0004-888628B9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C7C00-0C0B-BD94-68A4-56A3248F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38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B013-8A2D-CFFA-9308-B4733FD5E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E73A3-AC53-57BF-CE71-3B4512414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5DFB8-2F68-657A-933E-6B07CB673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F6451-5C47-7010-9D39-3325F2684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35FCC-CF62-FE49-B799-4B71EA098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EDB92-9F7E-9625-6A37-80E2F833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88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79B2-AE8D-C233-DB45-51F9B2E2D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E065D-A2B4-9AC0-96A1-16B6206D4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818D6-11DB-F69B-5613-8BD67B47C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23706-DC11-7202-10E2-50D219C71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2A9C93-4836-855D-F9DF-3026CEDF2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D01E3C-1BF8-4F4C-4F35-45EC4599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A4ECB8-D332-D161-8C22-5431E0A8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DA4CF4-145F-6C0E-6C5B-84395530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52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DA8A-67A5-D496-309A-FDC7CE53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15FD5-D70F-F816-EC7B-C66D3BEFB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02C1C-32E3-5F71-8B0E-3128FE63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C306D-8F47-9D16-2A04-FD4AED63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42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9356F8-F1F8-F04E-7641-16B4D03B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5BBCD3-083D-1D59-3140-6371A519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B6B40-DFD6-CFEE-48EA-6D4929EA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96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D2C6-B86D-5EB0-D513-85623AAF2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4E8DC-7A3C-EBD9-C109-03AA80EF2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BD1A2-A168-1B20-02B9-145F9993E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57B2A-8972-8C66-6B18-2ED89DD89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5445D-8B7F-39BD-72F4-8BB1505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1209F-2789-F5C5-D909-D0A49D91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01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F331-4E54-3EDD-D614-957EE12F3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4C22C7-0482-FB31-2AAE-47BFFD507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32487-3746-5915-F5EC-49F3AA45B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F25CF-3041-7FC2-9128-E50534B0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1132C-F35A-10E5-45AC-BFE0B266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C7A91-160C-A4CF-0834-A0470E054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9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98AEE-D828-4DA3-FA4A-745ABEBF9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6AEE8-43BC-70A1-CA52-82941B787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43F7D-0914-D838-E914-1114F777E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51B4-3692-67D3-A7D4-FE7CC08E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C79D9-1F13-84A4-A9F2-E0C4AE29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08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16619-31A2-5047-07B0-5CA25AEF0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367D2-2C3B-3998-05EB-F6EA17A3C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3E8E7-20D8-5BCF-9B49-37D035540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13D45-7D3F-0EA4-2FAE-1F817EC6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E4A9F-8B4D-6664-6E75-7D1C9B50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2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863F7A-7B37-2228-C05F-D633C391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D7021-9C6F-126E-9174-1BBA3F927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095C3-861D-69E3-DE4F-9FAA1D791B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59EC6-58F0-4C31-9084-AA165DA0859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3FB24-52A6-3861-306B-363702B21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8CEFB-E149-C30E-436D-74B9D5A22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59E08-E062-4916-B583-D78840721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51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63/1.2768624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1.png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fna&amp;_nc_ss=7b6a8&amp;oh=03_Q7cD5wEALx9OCALb0WESomyFIqpaRDRnO3TXo2l2YinaB5WQFA&amp;oe=6A874355"/><Relationship Id="rId2" Type="http://schemas.openxmlformats.org/officeDocument/2006/relationships/image" Target="../media/image40.fna&amp;_nc_ss=7b6a8&amp;oh=03_Q7cD5wEchVVZ4f4XDp533E1o1v4msyiWiOg1MAXE9zWuUm4p6g&amp;oe=6A8719EB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/index.php?title=Fresnel_equations&amp;oldid=1361158557" TargetMode="External"/><Relationship Id="rId2" Type="http://schemas.openxmlformats.org/officeDocument/2006/relationships/hyperlink" Target="https://doi.org/10.1063/1.276862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/index.php?title=Transfer-matrix_method_(optics)&amp;oldid=1363830099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7A03-FB97-64B0-5753-24C08084E0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2D Materials Using Multi-Layered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BD4DE-B38C-24D2-FB59-3DF118B882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Mariah Ellis</a:t>
            </a:r>
          </a:p>
          <a:p>
            <a:r>
              <a:rPr lang="en-US" dirty="0"/>
              <a:t>Dr. Lloyd Bumm</a:t>
            </a:r>
          </a:p>
          <a:p>
            <a:r>
              <a:rPr lang="en-US" dirty="0"/>
              <a:t>University of Oklahoma – 2026 Physics REU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713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2C0F7-D2EC-693E-31D4-E1D2E44B4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4101" y="1330105"/>
            <a:ext cx="7230374" cy="479673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Wanted to make 2D, hard-to-see ultra-thin organic materials easier to see through an optical microscope.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Need to exfoliate material into thin, transparent flakes on top of a substrate.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Thinner flakes are harder to see.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AFM image takes a long time; the optical microscope is a lot quicker.</a:t>
            </a:r>
          </a:p>
          <a:p>
            <a:pPr>
              <a:lnSpc>
                <a:spcPct val="150000"/>
              </a:lnSpc>
            </a:pPr>
            <a:endParaRPr lang="en-US" sz="2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CB603E-6D60-02D3-99E7-FDE2F8BA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25" y="191420"/>
            <a:ext cx="10515600" cy="1138685"/>
          </a:xfrm>
        </p:spPr>
        <p:txBody>
          <a:bodyPr/>
          <a:lstStyle/>
          <a:p>
            <a:r>
              <a:rPr lang="en-US" dirty="0"/>
              <a:t>Motivation Behind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6F813B-E932-3765-A3A9-8FA061EBC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74"/>
          <a:stretch>
            <a:fillRect/>
          </a:stretch>
        </p:blipFill>
        <p:spPr>
          <a:xfrm>
            <a:off x="95535" y="1643002"/>
            <a:ext cx="4325736" cy="43074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FFB385-20F3-E795-E8E6-9BC980D21E87}"/>
              </a:ext>
            </a:extLst>
          </p:cNvPr>
          <p:cNvSpPr txBox="1"/>
          <p:nvPr/>
        </p:nvSpPr>
        <p:spPr>
          <a:xfrm>
            <a:off x="666904" y="5950424"/>
            <a:ext cx="3182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AFM Image (Atomic Force Microscopy)</a:t>
            </a:r>
          </a:p>
        </p:txBody>
      </p:sp>
    </p:spTree>
    <p:extLst>
      <p:ext uri="{BB962C8B-B14F-4D97-AF65-F5344CB8AC3E}">
        <p14:creationId xmlns:p14="http://schemas.microsoft.com/office/powerpoint/2010/main" val="340884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1F3060-F817-C501-2832-DBE207C1B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" r="45051" b="658"/>
          <a:stretch>
            <a:fillRect/>
          </a:stretch>
        </p:blipFill>
        <p:spPr>
          <a:xfrm>
            <a:off x="5039818" y="723722"/>
            <a:ext cx="6812553" cy="54105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916128-2155-DC0F-32C8-AE0C29517F0C}"/>
                  </a:ext>
                </a:extLst>
              </p:cNvPr>
              <p:cNvSpPr txBox="1"/>
              <p:nvPr/>
            </p:nvSpPr>
            <p:spPr>
              <a:xfrm>
                <a:off x="159605" y="956114"/>
                <a:ext cx="4681903" cy="5660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Harder to see thin flakes with a microscope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Easier to see means we want a higher contrast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Contrast is the color/density difference between the flake and the substrate</a:t>
                </a:r>
                <a:endParaRPr lang="en-US" sz="2400" baseline="-25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Enhance the thinner, less visible flakes via an optical path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𝑓𝑙𝑎𝑘𝑒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𝑓𝑙𝑎𝑘𝑒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𝑓𝑙𝑎𝑘𝑒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916128-2155-DC0F-32C8-AE0C29517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05" y="956114"/>
                <a:ext cx="4681903" cy="5660524"/>
              </a:xfrm>
              <a:prstGeom prst="rect">
                <a:avLst/>
              </a:prstGeom>
              <a:blipFill>
                <a:blip r:embed="rId4"/>
                <a:stretch>
                  <a:fillRect l="-1693" t="-862" r="-3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698AA1A7-6416-AECC-9785-99A9F1A3D109}"/>
              </a:ext>
            </a:extLst>
          </p:cNvPr>
          <p:cNvSpPr txBox="1">
            <a:spLocks/>
          </p:cNvSpPr>
          <p:nvPr/>
        </p:nvSpPr>
        <p:spPr>
          <a:xfrm>
            <a:off x="339629" y="136581"/>
            <a:ext cx="10515600" cy="58714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Contrast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C2804-23BB-A4C1-1CAC-DE6D48F740F8}"/>
              </a:ext>
            </a:extLst>
          </p:cNvPr>
          <p:cNvSpPr txBox="1"/>
          <p:nvPr/>
        </p:nvSpPr>
        <p:spPr>
          <a:xfrm>
            <a:off x="9934089" y="6134277"/>
            <a:ext cx="19182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Optical Microscope</a:t>
            </a:r>
          </a:p>
        </p:txBody>
      </p:sp>
    </p:spTree>
    <p:extLst>
      <p:ext uri="{BB962C8B-B14F-4D97-AF65-F5344CB8AC3E}">
        <p14:creationId xmlns:p14="http://schemas.microsoft.com/office/powerpoint/2010/main" val="125407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F53F-D45F-E7A6-C5AC-DB654057E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56" y="177231"/>
            <a:ext cx="10515600" cy="753996"/>
          </a:xfrm>
        </p:spPr>
        <p:txBody>
          <a:bodyPr/>
          <a:lstStyle/>
          <a:p>
            <a:r>
              <a:rPr lang="en-US" dirty="0"/>
              <a:t>Goal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21AAD5-221A-9D34-564E-8E567DD009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0125" y="931227"/>
                <a:ext cx="5376531" cy="563969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000" dirty="0"/>
                  <a:t>Blake et al. show interference enhances contrast for a single layer of graphene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/>
                  <a:t>Certain thicknesses of SiO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 lead to enhanced graphene contrast/visibility: e.g. 90 nm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/>
                  <a:t>Central question: Can this idea be applied to ultra-thin organic materials?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/>
                  <a:t>Make a Python script to simulate a multi-layer structure containing air, graphene,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/>
                      <m:t>SiO</m:t>
                    </m:r>
                    <m:r>
                      <m:rPr>
                        <m:nor/>
                      </m:rPr>
                      <a:rPr lang="en-US" sz="2000" i="0" baseline="-25000" dirty="0"/>
                      <m:t>2</m:t>
                    </m:r>
                  </m:oMath>
                </a14:m>
                <a:r>
                  <a:rPr lang="en-US" sz="2000" dirty="0"/>
                  <a:t>, and Si to calculate the contrast of graphene with varying parameters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Python is an open-source language that is easily accessible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/>
                  <a:t>Graphene index, SiO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 thickness, and SiO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 index are functions of wavelength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21AAD5-221A-9D34-564E-8E567DD009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125" y="931227"/>
                <a:ext cx="5376531" cy="5639694"/>
              </a:xfrm>
              <a:blipFill>
                <a:blip r:embed="rId3"/>
                <a:stretch>
                  <a:fillRect l="-1020" t="-649" r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0CCA1AC-4C5C-DCE8-2BB0-89E46427A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645" y="2139430"/>
            <a:ext cx="6630554" cy="36845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800F71-65E5-8BE5-F49F-EC982E7A5C2B}"/>
              </a:ext>
            </a:extLst>
          </p:cNvPr>
          <p:cNvSpPr txBox="1"/>
          <p:nvPr/>
        </p:nvSpPr>
        <p:spPr>
          <a:xfrm>
            <a:off x="5996989" y="5969602"/>
            <a:ext cx="6096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P. Blake, E. W. Hill, A. H. Castro Neto, K. S. Novoselov, D. Jiang, R. Yang, T. J. Booth, A. K. Geim; Making Graphene Visible. </a:t>
            </a:r>
            <a:r>
              <a:rPr lang="en-US" sz="1400" i="1" dirty="0"/>
              <a:t>Appl. Phys. Lett.</a:t>
            </a:r>
            <a:r>
              <a:rPr lang="en-US" sz="1400" dirty="0"/>
              <a:t> 6 August 2007; 91 (6): 063124. </a:t>
            </a:r>
            <a:r>
              <a:rPr lang="en-US" sz="1400" dirty="0">
                <a:hlinkClick r:id="rId5"/>
              </a:rPr>
              <a:t>https://doi.org/10.1063/1.2768624</a:t>
            </a:r>
            <a:endParaRPr 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F69EB3-D965-6A1C-2E94-2A924771F105}"/>
              </a:ext>
            </a:extLst>
          </p:cNvPr>
          <p:cNvGrpSpPr/>
          <p:nvPr/>
        </p:nvGrpSpPr>
        <p:grpSpPr>
          <a:xfrm>
            <a:off x="7309940" y="619083"/>
            <a:ext cx="3330361" cy="1374689"/>
            <a:chOff x="7647744" y="917141"/>
            <a:chExt cx="3330361" cy="13746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FF1C706-A0B4-6C11-3A29-77AC527CA7BC}"/>
                </a:ext>
              </a:extLst>
            </p:cNvPr>
            <p:cNvSpPr/>
            <p:nvPr/>
          </p:nvSpPr>
          <p:spPr>
            <a:xfrm>
              <a:off x="7647744" y="1514292"/>
              <a:ext cx="2055943" cy="35042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9AAAE1-3B23-1305-828C-09746E10FA57}"/>
                </a:ext>
              </a:extLst>
            </p:cNvPr>
            <p:cNvSpPr/>
            <p:nvPr/>
          </p:nvSpPr>
          <p:spPr>
            <a:xfrm>
              <a:off x="7653975" y="1864716"/>
              <a:ext cx="2055943" cy="4271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DE3D16-AD24-0498-65C6-E0E83C29C10B}"/>
                </a:ext>
              </a:extLst>
            </p:cNvPr>
            <p:cNvSpPr/>
            <p:nvPr/>
          </p:nvSpPr>
          <p:spPr>
            <a:xfrm>
              <a:off x="8490718" y="1432754"/>
              <a:ext cx="1014383" cy="8153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895A50-B242-1E90-07E5-B38A343C4EFA}"/>
                </a:ext>
              </a:extLst>
            </p:cNvPr>
            <p:cNvSpPr txBox="1"/>
            <p:nvPr/>
          </p:nvSpPr>
          <p:spPr>
            <a:xfrm>
              <a:off x="7673052" y="1504837"/>
              <a:ext cx="619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SiO</a:t>
              </a:r>
              <a:r>
                <a:rPr lang="en-US" baseline="-25000" dirty="0"/>
                <a:t>2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97FEF0-DB99-2E91-2112-52623A687329}"/>
                </a:ext>
              </a:extLst>
            </p:cNvPr>
            <p:cNvSpPr txBox="1"/>
            <p:nvPr/>
          </p:nvSpPr>
          <p:spPr>
            <a:xfrm>
              <a:off x="7673052" y="1881935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192151-00FC-198F-F95D-DD627CB0BC46}"/>
                </a:ext>
              </a:extLst>
            </p:cNvPr>
            <p:cNvSpPr txBox="1"/>
            <p:nvPr/>
          </p:nvSpPr>
          <p:spPr>
            <a:xfrm>
              <a:off x="9860940" y="917141"/>
              <a:ext cx="11171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graphene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76A324E-2351-F92F-C3AB-05CCD1AD11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0264" y="1158039"/>
              <a:ext cx="460676" cy="19392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780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8306-54F5-A8E5-711A-D2795E87F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05" y="290802"/>
            <a:ext cx="10515600" cy="805217"/>
          </a:xfrm>
        </p:spPr>
        <p:txBody>
          <a:bodyPr>
            <a:noAutofit/>
          </a:bodyPr>
          <a:lstStyle/>
          <a:p>
            <a:r>
              <a:rPr lang="en-US" sz="3600" dirty="0"/>
              <a:t>Reflection and Transmission Coefficients</a:t>
            </a:r>
            <a:br>
              <a:rPr lang="en-US" sz="3600" dirty="0"/>
            </a:br>
            <a:r>
              <a:rPr lang="en-US" sz="3600" dirty="0"/>
              <a:t>Fresnel Equations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C4F07F-86D0-EDA2-7816-5CB10AD78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3347" t="15793" r="65677" b="57827"/>
          <a:stretch>
            <a:fillRect/>
          </a:stretch>
        </p:blipFill>
        <p:spPr>
          <a:xfrm>
            <a:off x="330505" y="3774036"/>
            <a:ext cx="2741471" cy="1225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AE9A3D-4168-BF74-EA30-F46F6D74D7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9" r="4899"/>
          <a:stretch>
            <a:fillRect/>
          </a:stretch>
        </p:blipFill>
        <p:spPr>
          <a:xfrm>
            <a:off x="8336478" y="3733352"/>
            <a:ext cx="3684897" cy="2831989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E09A075F-A5B7-ED36-5BC1-4BA5E8227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191" t="60677" r="5158" b="2370"/>
          <a:stretch>
            <a:fillRect/>
          </a:stretch>
        </p:blipFill>
        <p:spPr>
          <a:xfrm>
            <a:off x="3971830" y="5489907"/>
            <a:ext cx="3232949" cy="1238152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8779015A-FE5B-75DA-E841-ACB7538AEC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7" t="59028" r="64827" b="15923"/>
          <a:stretch>
            <a:fillRect/>
          </a:stretch>
        </p:blipFill>
        <p:spPr>
          <a:xfrm>
            <a:off x="557428" y="5489907"/>
            <a:ext cx="2282704" cy="922240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8EDE0389-EF06-41F7-5CCD-FBA137CC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370" t="1934" r="4979" b="44727"/>
          <a:stretch>
            <a:fillRect/>
          </a:stretch>
        </p:blipFill>
        <p:spPr>
          <a:xfrm>
            <a:off x="3747787" y="3426882"/>
            <a:ext cx="3473021" cy="19199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DB1EF0-13FB-9B3F-AC36-28C72110A774}"/>
              </a:ext>
            </a:extLst>
          </p:cNvPr>
          <p:cNvSpPr txBox="1"/>
          <p:nvPr/>
        </p:nvSpPr>
        <p:spPr>
          <a:xfrm>
            <a:off x="89805" y="1230727"/>
            <a:ext cx="73159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Explain how the reflection and transmission of light are affected when changing mediums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Amplitude coefficients r and t: magnitude/phase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Power coefficients R and T:  how light moves through </a:t>
            </a:r>
          </a:p>
          <a:p>
            <a:r>
              <a:rPr lang="en-US" sz="2400" dirty="0"/>
              <a:t>medium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terms of the wave relative vector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0FB54E-61DD-1124-3CCD-50A1C5F4A9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19"/>
          <a:stretch>
            <a:fillRect/>
          </a:stretch>
        </p:blipFill>
        <p:spPr>
          <a:xfrm>
            <a:off x="7405770" y="803332"/>
            <a:ext cx="4696901" cy="222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75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CB72-9580-CD3F-F2B2-1EA5071D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79964"/>
          </a:xfrm>
        </p:spPr>
        <p:txBody>
          <a:bodyPr/>
          <a:lstStyle/>
          <a:p>
            <a:r>
              <a:rPr lang="en-US" dirty="0"/>
              <a:t>Testing Fresnel Equations/Coefficients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933D2-5FD8-4BF9-AC11-71E63ABFC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892" y="4775494"/>
            <a:ext cx="11060502" cy="1808186"/>
          </a:xfrm>
        </p:spPr>
        <p:txBody>
          <a:bodyPr>
            <a:normAutofit/>
          </a:bodyPr>
          <a:lstStyle/>
          <a:p>
            <a:r>
              <a:rPr lang="en-US" dirty="0"/>
              <a:t>Started with only two layers: air </a:t>
            </a:r>
            <a:r>
              <a:rPr lang="en-US" dirty="0">
                <a:sym typeface="Wingdings" panose="05000000000000000000" pitchFamily="2" charset="2"/>
              </a:rPr>
              <a:t> glass</a:t>
            </a:r>
            <a:endParaRPr lang="en-US" dirty="0"/>
          </a:p>
          <a:p>
            <a:r>
              <a:rPr lang="en-US" dirty="0"/>
              <a:t>Calculates the reflection and transmission Coefficients at each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4EA57-CDBC-DEA5-084B-922972A88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8257"/>
            <a:ext cx="5786651" cy="40072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FB1AD9-84F4-B7AC-AB7E-A82B182D23A5}"/>
              </a:ext>
            </a:extLst>
          </p:cNvPr>
          <p:cNvSpPr txBox="1"/>
          <p:nvPr/>
        </p:nvSpPr>
        <p:spPr>
          <a:xfrm>
            <a:off x="10058400" y="4633614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Graphs made by me!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03CE15-8CF6-116A-F85A-8C6271F7C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682" y="779964"/>
            <a:ext cx="5422265" cy="389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33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04F3-2E06-FDAF-C767-70A9D569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799" y="243203"/>
            <a:ext cx="10515600" cy="958536"/>
          </a:xfrm>
        </p:spPr>
        <p:txBody>
          <a:bodyPr/>
          <a:lstStyle/>
          <a:p>
            <a:r>
              <a:rPr lang="en-US" dirty="0"/>
              <a:t>Multi-Layered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9A497-D6A3-00EF-25A3-53DC5DE6F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83811"/>
            <a:ext cx="10515600" cy="129315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Multiple layers of mediums with different refractive indexes. </a:t>
            </a:r>
          </a:p>
          <a:p>
            <a:pPr>
              <a:lnSpc>
                <a:spcPct val="150000"/>
              </a:lnSpc>
            </a:pPr>
            <a:r>
              <a:rPr lang="en-US" dirty="0"/>
              <a:t>Must account for all incidence, transmission, and interference.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83022B-B55B-1527-FD78-AA8C22971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28" y="1690688"/>
            <a:ext cx="9249008" cy="29270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8AEA6D-821F-7220-E6C2-6A189B2666BE}"/>
                  </a:ext>
                </a:extLst>
              </p:cNvPr>
              <p:cNvSpPr txBox="1"/>
              <p:nvPr/>
            </p:nvSpPr>
            <p:spPr>
              <a:xfrm>
                <a:off x="1813635" y="1719590"/>
                <a:ext cx="471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8AEA6D-821F-7220-E6C2-6A189B266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635" y="1719590"/>
                <a:ext cx="47153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CB3284-E264-060A-85FC-8AFECD13F5A7}"/>
                  </a:ext>
                </a:extLst>
              </p:cNvPr>
              <p:cNvSpPr txBox="1"/>
              <p:nvPr/>
            </p:nvSpPr>
            <p:spPr>
              <a:xfrm>
                <a:off x="3984458" y="1698648"/>
                <a:ext cx="46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CB3284-E264-060A-85FC-8AFECD13F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458" y="1698648"/>
                <a:ext cx="4662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6F11FC-6F89-E6B5-4A12-DD7B686A77D0}"/>
                  </a:ext>
                </a:extLst>
              </p:cNvPr>
              <p:cNvSpPr txBox="1"/>
              <p:nvPr/>
            </p:nvSpPr>
            <p:spPr>
              <a:xfrm>
                <a:off x="6633363" y="1679169"/>
                <a:ext cx="471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6F11FC-6F89-E6B5-4A12-DD7B686A7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363" y="1679169"/>
                <a:ext cx="4715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64F01F-CDEC-1721-B505-75D070A9C507}"/>
                  </a:ext>
                </a:extLst>
              </p:cNvPr>
              <p:cNvSpPr txBox="1"/>
              <p:nvPr/>
            </p:nvSpPr>
            <p:spPr>
              <a:xfrm>
                <a:off x="9012087" y="1698648"/>
                <a:ext cx="471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64F01F-CDEC-1721-B505-75D070A9C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087" y="1698648"/>
                <a:ext cx="47153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AF4FCD-0847-8548-CBDF-126C8DBC5C58}"/>
                  </a:ext>
                </a:extLst>
              </p:cNvPr>
              <p:cNvSpPr txBox="1"/>
              <p:nvPr/>
            </p:nvSpPr>
            <p:spPr>
              <a:xfrm>
                <a:off x="1456773" y="2355025"/>
                <a:ext cx="11852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𝑖𝑛𝑐𝑖𝑑𝑒𝑛𝑡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AF4FCD-0847-8548-CBDF-126C8DBC5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773" y="2355025"/>
                <a:ext cx="1185261" cy="369332"/>
              </a:xfrm>
              <a:prstGeom prst="rect">
                <a:avLst/>
              </a:prstGeom>
              <a:blipFill>
                <a:blip r:embed="rId7"/>
                <a:stretch>
                  <a:fillRect l="-6186" r="-2577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AF0ABC-484C-A10F-3496-8DE91BFF30E9}"/>
                  </a:ext>
                </a:extLst>
              </p:cNvPr>
              <p:cNvSpPr txBox="1"/>
              <p:nvPr/>
            </p:nvSpPr>
            <p:spPr>
              <a:xfrm>
                <a:off x="1370892" y="3707409"/>
                <a:ext cx="1401089" cy="3989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𝑟𝑒𝑓𝑙𝑒𝑐𝑡𝑖𝑜𝑛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AF0ABC-484C-A10F-3496-8DE91BFF3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892" y="3707409"/>
                <a:ext cx="1401089" cy="398955"/>
              </a:xfrm>
              <a:prstGeom prst="rect">
                <a:avLst/>
              </a:prstGeom>
              <a:blipFill>
                <a:blip r:embed="rId8"/>
                <a:stretch>
                  <a:fillRect l="-5217" r="-3913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DAB4CF-09CC-27E5-A57A-A7C1D02E2FB1}"/>
                  </a:ext>
                </a:extLst>
              </p:cNvPr>
              <p:cNvSpPr txBox="1"/>
              <p:nvPr/>
            </p:nvSpPr>
            <p:spPr>
              <a:xfrm>
                <a:off x="8487645" y="2286952"/>
                <a:ext cx="173291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𝑡𝑟𝑎𝑛𝑠𝑚𝑖𝑠𝑠𝑖𝑜𝑛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DAB4CF-09CC-27E5-A57A-A7C1D02E2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645" y="2286952"/>
                <a:ext cx="1732910" cy="369332"/>
              </a:xfrm>
              <a:prstGeom prst="rect">
                <a:avLst/>
              </a:prstGeom>
              <a:blipFill>
                <a:blip r:embed="rId9"/>
                <a:stretch>
                  <a:fillRect l="-3860" r="-1404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1D24AE-13AA-28B2-E425-A36D365623F7}"/>
                  </a:ext>
                </a:extLst>
              </p:cNvPr>
              <p:cNvSpPr txBox="1"/>
              <p:nvPr/>
            </p:nvSpPr>
            <p:spPr>
              <a:xfrm>
                <a:off x="8487645" y="3741497"/>
                <a:ext cx="52858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1D24AE-13AA-28B2-E425-A36D36562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645" y="3741497"/>
                <a:ext cx="528583" cy="369332"/>
              </a:xfrm>
              <a:prstGeom prst="rect">
                <a:avLst/>
              </a:prstGeom>
              <a:blipFill>
                <a:blip r:embed="rId10"/>
                <a:stretch>
                  <a:fillRect l="-6897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F275D0-EA96-1FED-302A-445AAC0DFCBE}"/>
              </a:ext>
            </a:extLst>
          </p:cNvPr>
          <p:cNvCxnSpPr>
            <a:cxnSpLocks/>
          </p:cNvCxnSpPr>
          <p:nvPr/>
        </p:nvCxnSpPr>
        <p:spPr>
          <a:xfrm>
            <a:off x="1456773" y="2849064"/>
            <a:ext cx="14735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9E1B2E-4467-740B-A2D3-9E8E80680E5E}"/>
              </a:ext>
            </a:extLst>
          </p:cNvPr>
          <p:cNvCxnSpPr>
            <a:cxnSpLocks/>
          </p:cNvCxnSpPr>
          <p:nvPr/>
        </p:nvCxnSpPr>
        <p:spPr>
          <a:xfrm flipH="1">
            <a:off x="8607264" y="2724357"/>
            <a:ext cx="1613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B79C9C-295F-9E3D-ECC7-49C3B0E2FAA5}"/>
              </a:ext>
            </a:extLst>
          </p:cNvPr>
          <p:cNvCxnSpPr>
            <a:cxnSpLocks/>
          </p:cNvCxnSpPr>
          <p:nvPr/>
        </p:nvCxnSpPr>
        <p:spPr>
          <a:xfrm flipH="1">
            <a:off x="8607264" y="4220664"/>
            <a:ext cx="1371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181932-36AA-0298-F063-80BDAD690BDF}"/>
              </a:ext>
            </a:extLst>
          </p:cNvPr>
          <p:cNvCxnSpPr>
            <a:cxnSpLocks/>
          </p:cNvCxnSpPr>
          <p:nvPr/>
        </p:nvCxnSpPr>
        <p:spPr>
          <a:xfrm flipH="1">
            <a:off x="1546064" y="4284164"/>
            <a:ext cx="138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059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1A43B-B300-412F-53BC-E4B7F0751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47" y="83298"/>
            <a:ext cx="10515600" cy="1325563"/>
          </a:xfrm>
        </p:spPr>
        <p:txBody>
          <a:bodyPr/>
          <a:lstStyle/>
          <a:p>
            <a:r>
              <a:rPr lang="en-US" dirty="0"/>
              <a:t>Transfer Matrix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B1D4A3-AF8B-F272-A84A-84B1BFC8F7E3}"/>
              </a:ext>
            </a:extLst>
          </p:cNvPr>
          <p:cNvSpPr txBox="1">
            <a:spLocks/>
          </p:cNvSpPr>
          <p:nvPr/>
        </p:nvSpPr>
        <p:spPr>
          <a:xfrm>
            <a:off x="184913" y="1191038"/>
            <a:ext cx="5440680" cy="28732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COULD calculate this out with each individual incidence, transmission, and interference of light, but isn’t scalable. </a:t>
            </a:r>
          </a:p>
          <a:p>
            <a:endParaRPr lang="en-US" dirty="0"/>
          </a:p>
          <a:p>
            <a:r>
              <a:rPr lang="en-US" dirty="0"/>
              <a:t>Easier way to compute all the components in a scalable way.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AA2C8-4972-41C0-9409-A206F456D465}"/>
              </a:ext>
            </a:extLst>
          </p:cNvPr>
          <p:cNvSpPr txBox="1"/>
          <p:nvPr/>
        </p:nvSpPr>
        <p:spPr>
          <a:xfrm>
            <a:off x="563727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58CCE3-63F1-5D98-DA10-0314F9962550}"/>
                  </a:ext>
                </a:extLst>
              </p:cNvPr>
              <p:cNvSpPr txBox="1"/>
              <p:nvPr/>
            </p:nvSpPr>
            <p:spPr>
              <a:xfrm>
                <a:off x="7134871" y="3110299"/>
                <a:ext cx="41164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2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2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3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58CCE3-63F1-5D98-DA10-0314F9962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871" y="3110299"/>
                <a:ext cx="4116447" cy="276999"/>
              </a:xfrm>
              <a:prstGeom prst="rect">
                <a:avLst/>
              </a:prstGeom>
              <a:blipFill>
                <a:blip r:embed="rId2"/>
                <a:stretch>
                  <a:fillRect l="-29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4F6A25-9773-D119-26C5-1E31DDB787FD}"/>
                  </a:ext>
                </a:extLst>
              </p:cNvPr>
              <p:cNvSpPr txBox="1"/>
              <p:nvPr/>
            </p:nvSpPr>
            <p:spPr>
              <a:xfrm>
                <a:off x="8333634" y="4657473"/>
                <a:ext cx="355360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4F6A25-9773-D119-26C5-1E31DDB78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634" y="4657473"/>
                <a:ext cx="3553604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125E791-9EF7-8CC6-A6C7-94A89B9A8550}"/>
                  </a:ext>
                </a:extLst>
              </p:cNvPr>
              <p:cNvSpPr txBox="1"/>
              <p:nvPr/>
            </p:nvSpPr>
            <p:spPr>
              <a:xfrm>
                <a:off x="6699605" y="3109098"/>
                <a:ext cx="1747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125E791-9EF7-8CC6-A6C7-94A89B9A8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605" y="3109098"/>
                <a:ext cx="174727" cy="276999"/>
              </a:xfrm>
              <a:prstGeom prst="rect">
                <a:avLst/>
              </a:prstGeom>
              <a:blipFill>
                <a:blip r:embed="rId5"/>
                <a:stretch>
                  <a:fillRect l="-31034" r="-34483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9B5CC1-4F7C-31D0-BDF8-C6F232F9C0EE}"/>
                  </a:ext>
                </a:extLst>
              </p:cNvPr>
              <p:cNvSpPr txBox="1"/>
              <p:nvPr/>
            </p:nvSpPr>
            <p:spPr>
              <a:xfrm>
                <a:off x="281846" y="4064268"/>
                <a:ext cx="7018781" cy="1287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Transmission matrix: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01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01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9B5CC1-4F7C-31D0-BDF8-C6F232F9C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46" y="4064268"/>
                <a:ext cx="7018781" cy="1287468"/>
              </a:xfrm>
              <a:prstGeom prst="rect">
                <a:avLst/>
              </a:prstGeom>
              <a:blipFill>
                <a:blip r:embed="rId6"/>
                <a:stretch>
                  <a:fillRect l="-2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63C0C4-00C5-B35C-A397-C903EA9400AB}"/>
                  </a:ext>
                </a:extLst>
              </p:cNvPr>
              <p:cNvSpPr txBox="1"/>
              <p:nvPr/>
            </p:nvSpPr>
            <p:spPr>
              <a:xfrm>
                <a:off x="351427" y="5442652"/>
                <a:ext cx="7799699" cy="1650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Propagation matrix: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63C0C4-00C5-B35C-A397-C903EA940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27" y="5442652"/>
                <a:ext cx="7799699" cy="1650388"/>
              </a:xfrm>
              <a:prstGeom prst="rect">
                <a:avLst/>
              </a:prstGeom>
              <a:blipFill>
                <a:blip r:embed="rId7"/>
                <a:stretch>
                  <a:fillRect l="-2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127EA355-242E-78E7-3BEC-E77494C414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5593" y="533245"/>
            <a:ext cx="6354062" cy="30617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D3FAF74-C422-E79A-F936-6B44A6CB0F41}"/>
              </a:ext>
            </a:extLst>
          </p:cNvPr>
          <p:cNvSpPr txBox="1"/>
          <p:nvPr/>
        </p:nvSpPr>
        <p:spPr>
          <a:xfrm>
            <a:off x="563727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EA2960-51CA-83A8-6CE7-A92E5DED9BBA}"/>
                  </a:ext>
                </a:extLst>
              </p:cNvPr>
              <p:cNvSpPr txBox="1"/>
              <p:nvPr/>
            </p:nvSpPr>
            <p:spPr>
              <a:xfrm>
                <a:off x="6096000" y="590154"/>
                <a:ext cx="4715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EA2960-51CA-83A8-6CE7-A92E5DED9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90154"/>
                <a:ext cx="4715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80DA75-0FE4-B94C-5D05-D99051C9F527}"/>
                  </a:ext>
                </a:extLst>
              </p:cNvPr>
              <p:cNvSpPr txBox="1"/>
              <p:nvPr/>
            </p:nvSpPr>
            <p:spPr>
              <a:xfrm>
                <a:off x="7611527" y="590154"/>
                <a:ext cx="466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80DA75-0FE4-B94C-5D05-D99051C9F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1527" y="590154"/>
                <a:ext cx="46621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A728EC-0B32-6B77-5A51-778A9F8EE88C}"/>
                  </a:ext>
                </a:extLst>
              </p:cNvPr>
              <p:cNvSpPr txBox="1"/>
              <p:nvPr/>
            </p:nvSpPr>
            <p:spPr>
              <a:xfrm>
                <a:off x="9482663" y="590154"/>
                <a:ext cx="4715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A728EC-0B32-6B77-5A51-778A9F8EE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663" y="590154"/>
                <a:ext cx="47153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AC10EAF-134B-4082-7E99-6F2F3A14803F}"/>
                  </a:ext>
                </a:extLst>
              </p:cNvPr>
              <p:cNvSpPr txBox="1"/>
              <p:nvPr/>
            </p:nvSpPr>
            <p:spPr>
              <a:xfrm>
                <a:off x="11168485" y="590154"/>
                <a:ext cx="4715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AC10EAF-134B-4082-7E99-6F2F3A148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8485" y="590154"/>
                <a:ext cx="47153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E6D08C-40CC-C174-398E-8E38A8722590}"/>
              </a:ext>
            </a:extLst>
          </p:cNvPr>
          <p:cNvCxnSpPr>
            <a:cxnSpLocks/>
          </p:cNvCxnSpPr>
          <p:nvPr/>
        </p:nvCxnSpPr>
        <p:spPr>
          <a:xfrm>
            <a:off x="5826868" y="1197864"/>
            <a:ext cx="10768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A9EDD81-EE7A-1A92-BDEA-D6911662E15F}"/>
              </a:ext>
            </a:extLst>
          </p:cNvPr>
          <p:cNvCxnSpPr/>
          <p:nvPr/>
        </p:nvCxnSpPr>
        <p:spPr>
          <a:xfrm>
            <a:off x="7134871" y="1197864"/>
            <a:ext cx="4766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CE0903-B614-44DF-4942-9F8A0D5BF2E3}"/>
              </a:ext>
            </a:extLst>
          </p:cNvPr>
          <p:cNvCxnSpPr/>
          <p:nvPr/>
        </p:nvCxnSpPr>
        <p:spPr>
          <a:xfrm>
            <a:off x="8077745" y="1197864"/>
            <a:ext cx="5117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47BD38-09E6-CE37-3D4E-1B928CB0A01C}"/>
              </a:ext>
            </a:extLst>
          </p:cNvPr>
          <p:cNvCxnSpPr>
            <a:cxnSpLocks/>
          </p:cNvCxnSpPr>
          <p:nvPr/>
        </p:nvCxnSpPr>
        <p:spPr>
          <a:xfrm flipH="1">
            <a:off x="7134871" y="2324911"/>
            <a:ext cx="4766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98F9B83-A95F-0BED-D8C3-5B34DFA3BAAB}"/>
              </a:ext>
            </a:extLst>
          </p:cNvPr>
          <p:cNvCxnSpPr/>
          <p:nvPr/>
        </p:nvCxnSpPr>
        <p:spPr>
          <a:xfrm flipH="1">
            <a:off x="8077745" y="2324911"/>
            <a:ext cx="5117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B517A3-37F7-56D7-1155-D17601E89EF7}"/>
              </a:ext>
            </a:extLst>
          </p:cNvPr>
          <p:cNvCxnSpPr/>
          <p:nvPr/>
        </p:nvCxnSpPr>
        <p:spPr>
          <a:xfrm>
            <a:off x="8802624" y="1197864"/>
            <a:ext cx="4970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5E759C-4DF4-0D1F-B6FB-EC1C91A7CEE5}"/>
              </a:ext>
            </a:extLst>
          </p:cNvPr>
          <p:cNvCxnSpPr/>
          <p:nvPr/>
        </p:nvCxnSpPr>
        <p:spPr>
          <a:xfrm>
            <a:off x="9954202" y="1197864"/>
            <a:ext cx="5127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C9F9BE-F736-0F85-1401-CCBACA12B7E3}"/>
              </a:ext>
            </a:extLst>
          </p:cNvPr>
          <p:cNvCxnSpPr>
            <a:cxnSpLocks/>
          </p:cNvCxnSpPr>
          <p:nvPr/>
        </p:nvCxnSpPr>
        <p:spPr>
          <a:xfrm flipH="1">
            <a:off x="8802624" y="2324911"/>
            <a:ext cx="4970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1F7848B-7016-4114-4382-7472B82833C5}"/>
              </a:ext>
            </a:extLst>
          </p:cNvPr>
          <p:cNvCxnSpPr/>
          <p:nvPr/>
        </p:nvCxnSpPr>
        <p:spPr>
          <a:xfrm flipH="1">
            <a:off x="9954202" y="2324911"/>
            <a:ext cx="5127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BB063CE-86C9-129E-17D4-C16AD5A5280B}"/>
              </a:ext>
            </a:extLst>
          </p:cNvPr>
          <p:cNvCxnSpPr/>
          <p:nvPr/>
        </p:nvCxnSpPr>
        <p:spPr>
          <a:xfrm>
            <a:off x="10778247" y="1197864"/>
            <a:ext cx="5755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1A0CB-3E98-A4B2-F028-95A2E62FC90F}"/>
              </a:ext>
            </a:extLst>
          </p:cNvPr>
          <p:cNvCxnSpPr/>
          <p:nvPr/>
        </p:nvCxnSpPr>
        <p:spPr>
          <a:xfrm flipH="1">
            <a:off x="10787974" y="2324911"/>
            <a:ext cx="6162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B924FB1-641B-FE69-A640-C69DB0E8484A}"/>
                  </a:ext>
                </a:extLst>
              </p:cNvPr>
              <p:cNvSpPr txBox="1"/>
              <p:nvPr/>
            </p:nvSpPr>
            <p:spPr>
              <a:xfrm>
                <a:off x="7134871" y="3110299"/>
                <a:ext cx="41164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2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2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3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B924FB1-641B-FE69-A640-C69DB0E8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871" y="3110299"/>
                <a:ext cx="4116447" cy="276999"/>
              </a:xfrm>
              <a:prstGeom prst="rect">
                <a:avLst/>
              </a:prstGeom>
              <a:blipFill>
                <a:blip r:embed="rId2"/>
                <a:stretch>
                  <a:fillRect l="-29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4AD13BD-71CD-A1A9-DD63-F72D733283AD}"/>
                  </a:ext>
                </a:extLst>
              </p:cNvPr>
              <p:cNvSpPr txBox="1"/>
              <p:nvPr/>
            </p:nvSpPr>
            <p:spPr>
              <a:xfrm>
                <a:off x="7215005" y="959486"/>
                <a:ext cx="39465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4AD13BD-71CD-A1A9-DD63-F72D73328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005" y="959486"/>
                <a:ext cx="3946593" cy="276999"/>
              </a:xfrm>
              <a:prstGeom prst="rect">
                <a:avLst/>
              </a:prstGeom>
              <a:blipFill>
                <a:blip r:embed="rId13"/>
                <a:stretch>
                  <a:fillRect l="-1082" r="-77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200CDC-9B67-02EC-D96B-4C6354C0545E}"/>
              </a:ext>
            </a:extLst>
          </p:cNvPr>
          <p:cNvCxnSpPr>
            <a:cxnSpLocks/>
          </p:cNvCxnSpPr>
          <p:nvPr/>
        </p:nvCxnSpPr>
        <p:spPr>
          <a:xfrm flipH="1">
            <a:off x="5897880" y="2324911"/>
            <a:ext cx="1005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7CB6137-2E99-F4DA-8128-86EE2880F856}"/>
                  </a:ext>
                </a:extLst>
              </p:cNvPr>
              <p:cNvSpPr txBox="1"/>
              <p:nvPr/>
            </p:nvSpPr>
            <p:spPr>
              <a:xfrm>
                <a:off x="7281000" y="2055743"/>
                <a:ext cx="39703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7CB6137-2E99-F4DA-8128-86EE2880F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000" y="2055743"/>
                <a:ext cx="3970318" cy="276999"/>
              </a:xfrm>
              <a:prstGeom prst="rect">
                <a:avLst/>
              </a:prstGeom>
              <a:blipFill>
                <a:blip r:embed="rId14"/>
                <a:stretch>
                  <a:fillRect l="-920" r="-76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21DF63D-6AC8-2A4F-CC98-E45085B5FEB9}"/>
                  </a:ext>
                </a:extLst>
              </p:cNvPr>
              <p:cNvSpPr txBox="1"/>
              <p:nvPr/>
            </p:nvSpPr>
            <p:spPr>
              <a:xfrm>
                <a:off x="6366843" y="948011"/>
                <a:ext cx="2006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21DF63D-6AC8-2A4F-CC98-E45085B5F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843" y="948011"/>
                <a:ext cx="200696" cy="276999"/>
              </a:xfrm>
              <a:prstGeom prst="rect">
                <a:avLst/>
              </a:prstGeom>
              <a:blipFill>
                <a:blip r:embed="rId15"/>
                <a:stretch>
                  <a:fillRect l="-27273" r="-2727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EB0773-FA74-30F8-9FE5-4AAF7B69F56C}"/>
                  </a:ext>
                </a:extLst>
              </p:cNvPr>
              <p:cNvSpPr txBox="1"/>
              <p:nvPr/>
            </p:nvSpPr>
            <p:spPr>
              <a:xfrm>
                <a:off x="6372766" y="2065612"/>
                <a:ext cx="1746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EB0773-FA74-30F8-9FE5-4AAF7B69F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766" y="2065612"/>
                <a:ext cx="174663" cy="276999"/>
              </a:xfrm>
              <a:prstGeom prst="rect">
                <a:avLst/>
              </a:prstGeom>
              <a:blipFill>
                <a:blip r:embed="rId16"/>
                <a:stretch>
                  <a:fillRect l="-31034" r="-3103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427262F-5B86-A0E9-5D33-E4668CB95A9D}"/>
                  </a:ext>
                </a:extLst>
              </p:cNvPr>
              <p:cNvSpPr txBox="1"/>
              <p:nvPr/>
            </p:nvSpPr>
            <p:spPr>
              <a:xfrm>
                <a:off x="6699605" y="3109098"/>
                <a:ext cx="1747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427262F-5B86-A0E9-5D33-E4668CB95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605" y="3109098"/>
                <a:ext cx="174727" cy="276999"/>
              </a:xfrm>
              <a:prstGeom prst="rect">
                <a:avLst/>
              </a:prstGeom>
              <a:blipFill>
                <a:blip r:embed="rId5"/>
                <a:stretch>
                  <a:fillRect l="-31034" r="-34483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Left Brace 44">
            <a:extLst>
              <a:ext uri="{FF2B5EF4-FFF2-40B4-BE49-F238E27FC236}">
                <a16:creationId xmlns:a16="http://schemas.microsoft.com/office/drawing/2014/main" id="{2D8F70B9-846F-5753-7EB6-64DD6E583575}"/>
              </a:ext>
            </a:extLst>
          </p:cNvPr>
          <p:cNvSpPr/>
          <p:nvPr/>
        </p:nvSpPr>
        <p:spPr>
          <a:xfrm rot="5400000">
            <a:off x="10428675" y="136853"/>
            <a:ext cx="340599" cy="372351"/>
          </a:xfrm>
          <a:prstGeom prst="leftBrace">
            <a:avLst/>
          </a:prstGeom>
          <a:ln w="5715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180E492B-2BBE-3AEB-9BBD-F3F9040F015A}"/>
              </a:ext>
            </a:extLst>
          </p:cNvPr>
          <p:cNvSpPr/>
          <p:nvPr/>
        </p:nvSpPr>
        <p:spPr>
          <a:xfrm rot="5400000">
            <a:off x="8527079" y="121343"/>
            <a:ext cx="340599" cy="372351"/>
          </a:xfrm>
          <a:prstGeom prst="leftBrace">
            <a:avLst/>
          </a:prstGeom>
          <a:ln w="5715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Left Brace 46">
            <a:extLst>
              <a:ext uri="{FF2B5EF4-FFF2-40B4-BE49-F238E27FC236}">
                <a16:creationId xmlns:a16="http://schemas.microsoft.com/office/drawing/2014/main" id="{CBDAECC8-3A02-04AE-3B5D-D13C64C1739E}"/>
              </a:ext>
            </a:extLst>
          </p:cNvPr>
          <p:cNvSpPr/>
          <p:nvPr/>
        </p:nvSpPr>
        <p:spPr>
          <a:xfrm rot="5400000">
            <a:off x="6887417" y="115216"/>
            <a:ext cx="340599" cy="372351"/>
          </a:xfrm>
          <a:prstGeom prst="leftBrace">
            <a:avLst/>
          </a:prstGeom>
          <a:ln w="5715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0FEE07DF-DF41-5DB6-5294-7EA7D6FEB9FA}"/>
              </a:ext>
            </a:extLst>
          </p:cNvPr>
          <p:cNvSpPr/>
          <p:nvPr/>
        </p:nvSpPr>
        <p:spPr>
          <a:xfrm rot="19440072">
            <a:off x="5175254" y="318527"/>
            <a:ext cx="1805630" cy="1355336"/>
          </a:xfrm>
          <a:prstGeom prst="arc">
            <a:avLst>
              <a:gd name="adj1" fmla="val 16341925"/>
              <a:gd name="adj2" fmla="val 21369898"/>
            </a:avLst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D6B9B630-4CD3-68D4-88AC-381F8476CD24}"/>
              </a:ext>
            </a:extLst>
          </p:cNvPr>
          <p:cNvSpPr/>
          <p:nvPr/>
        </p:nvSpPr>
        <p:spPr>
          <a:xfrm rot="19440072">
            <a:off x="6823772" y="317793"/>
            <a:ext cx="1805630" cy="1355336"/>
          </a:xfrm>
          <a:prstGeom prst="arc">
            <a:avLst>
              <a:gd name="adj1" fmla="val 16341925"/>
              <a:gd name="adj2" fmla="val 21369898"/>
            </a:avLst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D05DBDA0-CE52-9188-50E5-C507CACEA486}"/>
              </a:ext>
            </a:extLst>
          </p:cNvPr>
          <p:cNvSpPr/>
          <p:nvPr/>
        </p:nvSpPr>
        <p:spPr>
          <a:xfrm rot="19440072">
            <a:off x="8586143" y="260740"/>
            <a:ext cx="1805630" cy="1355336"/>
          </a:xfrm>
          <a:prstGeom prst="arc">
            <a:avLst>
              <a:gd name="adj1" fmla="val 15598318"/>
              <a:gd name="adj2" fmla="val 219613"/>
            </a:avLst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3671F5AA-A132-0C95-3579-E62C35786808}"/>
              </a:ext>
            </a:extLst>
          </p:cNvPr>
          <p:cNvSpPr/>
          <p:nvPr/>
        </p:nvSpPr>
        <p:spPr>
          <a:xfrm rot="19440072">
            <a:off x="10350916" y="279926"/>
            <a:ext cx="1805630" cy="1355336"/>
          </a:xfrm>
          <a:prstGeom prst="arc">
            <a:avLst>
              <a:gd name="adj1" fmla="val 16341925"/>
              <a:gd name="adj2" fmla="val 21369898"/>
            </a:avLst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25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0A162-D471-8F7C-55BB-6E73C5A32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107525"/>
            <a:ext cx="5157787" cy="723331"/>
          </a:xfrm>
        </p:spPr>
        <p:txBody>
          <a:bodyPr>
            <a:normAutofit/>
          </a:bodyPr>
          <a:lstStyle/>
          <a:p>
            <a:r>
              <a:rPr lang="en-US" sz="3600" b="0" dirty="0"/>
              <a:t>Propagation Matrix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D4C21-415B-6433-81CC-04C5DBFEA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945811"/>
            <a:ext cx="5967484" cy="2291611"/>
          </a:xfrm>
        </p:spPr>
        <p:txBody>
          <a:bodyPr>
            <a:normAutofit/>
          </a:bodyPr>
          <a:lstStyle/>
          <a:p>
            <a:r>
              <a:rPr lang="en-US" dirty="0"/>
              <a:t>The individual medium</a:t>
            </a:r>
          </a:p>
          <a:p>
            <a:r>
              <a:rPr lang="en-US" dirty="0"/>
              <a:t>Dependent on thickness of medium and angle of incidence</a:t>
            </a:r>
          </a:p>
          <a:p>
            <a:r>
              <a:rPr lang="en-US" dirty="0"/>
              <a:t>Thickness of first and last medium is semi-finite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D72CB-6DBC-847E-F01B-5DBFEC6EB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5843" y="107526"/>
            <a:ext cx="5183188" cy="723331"/>
          </a:xfrm>
        </p:spPr>
        <p:txBody>
          <a:bodyPr>
            <a:normAutofit/>
          </a:bodyPr>
          <a:lstStyle/>
          <a:p>
            <a:r>
              <a:rPr lang="en-US" sz="4000" b="0" dirty="0"/>
              <a:t>Transmission Matrix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9FE9D-0B0F-614A-AC9F-4961572ED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5843" y="1027278"/>
            <a:ext cx="5815084" cy="2401722"/>
          </a:xfrm>
        </p:spPr>
        <p:txBody>
          <a:bodyPr>
            <a:normAutofit/>
          </a:bodyPr>
          <a:lstStyle/>
          <a:p>
            <a:r>
              <a:rPr lang="en-US" dirty="0"/>
              <a:t>The in-between of mediums</a:t>
            </a:r>
          </a:p>
          <a:p>
            <a:r>
              <a:rPr lang="en-US" dirty="0"/>
              <a:t>What the Fresnel equations calculate</a:t>
            </a:r>
          </a:p>
          <a:p>
            <a:r>
              <a:rPr lang="en-US" dirty="0"/>
              <a:t>Earlier graphs calculate one transmission matrix</a:t>
            </a:r>
          </a:p>
          <a:p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88517E4-B62F-DAFD-99A4-34BFA0BC3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496" y="3630728"/>
            <a:ext cx="9249008" cy="29270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FB1947A-DB35-EE0A-53D6-D73B6A28A6F3}"/>
                  </a:ext>
                </a:extLst>
              </p:cNvPr>
              <p:cNvSpPr txBox="1"/>
              <p:nvPr/>
            </p:nvSpPr>
            <p:spPr>
              <a:xfrm>
                <a:off x="2345898" y="3651670"/>
                <a:ext cx="471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FB1947A-DB35-EE0A-53D6-D73B6A28A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98" y="3651670"/>
                <a:ext cx="47153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EA8C2B-2DE1-CB4E-0574-5747D5C1FA4E}"/>
                  </a:ext>
                </a:extLst>
              </p:cNvPr>
              <p:cNvSpPr txBox="1"/>
              <p:nvPr/>
            </p:nvSpPr>
            <p:spPr>
              <a:xfrm>
                <a:off x="4516721" y="3630728"/>
                <a:ext cx="466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EA8C2B-2DE1-CB4E-0574-5747D5C1F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721" y="3630728"/>
                <a:ext cx="4662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58289F-7B1C-E5B9-FCFD-3CA74A9A2269}"/>
                  </a:ext>
                </a:extLst>
              </p:cNvPr>
              <p:cNvSpPr txBox="1"/>
              <p:nvPr/>
            </p:nvSpPr>
            <p:spPr>
              <a:xfrm>
                <a:off x="7165626" y="3611249"/>
                <a:ext cx="471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58289F-7B1C-E5B9-FCFD-3CA74A9A2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626" y="3611249"/>
                <a:ext cx="4715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4A02E1E-DCC7-FBB0-0B53-CEAD41B17FAB}"/>
                  </a:ext>
                </a:extLst>
              </p:cNvPr>
              <p:cNvSpPr txBox="1"/>
              <p:nvPr/>
            </p:nvSpPr>
            <p:spPr>
              <a:xfrm>
                <a:off x="9544350" y="3630728"/>
                <a:ext cx="471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4A02E1E-DCC7-FBB0-0B53-CEAD41B17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4350" y="3630728"/>
                <a:ext cx="47153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60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1E92-35B0-797B-8011-F51BB50C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1"/>
            <a:ext cx="10515600" cy="1009651"/>
          </a:xfrm>
        </p:spPr>
        <p:txBody>
          <a:bodyPr/>
          <a:lstStyle/>
          <a:p>
            <a:r>
              <a:rPr lang="en-US" dirty="0"/>
              <a:t>Scattering Matrix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80793-07C1-F1F6-3101-19B56035B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8404"/>
            <a:ext cx="6101443" cy="5108559"/>
          </a:xfrm>
        </p:spPr>
        <p:txBody>
          <a:bodyPr/>
          <a:lstStyle/>
          <a:p>
            <a:r>
              <a:rPr lang="en-US" dirty="0"/>
              <a:t>Accounts for multiple reflection,  transmission, and interference.</a:t>
            </a:r>
          </a:p>
          <a:p>
            <a:r>
              <a:rPr lang="en-US" dirty="0"/>
              <a:t>Can calculate the reflection and transmission coefficients from the system from the resulting matrix</a:t>
            </a:r>
          </a:p>
          <a:p>
            <a:r>
              <a:rPr lang="en-US" dirty="0"/>
              <a:t>Specifically want the reflection coefficient (R) at normal incidence.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714F5-162A-D74B-5B87-4A19AD41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336" y="4406025"/>
            <a:ext cx="10008464" cy="22757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F85F20-B01D-4583-B2C7-29CC88F28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643" y="365125"/>
            <a:ext cx="5236175" cy="355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62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FFF77-E73C-F82E-1E31-F7743720D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88" y="301091"/>
            <a:ext cx="10515600" cy="885011"/>
          </a:xfrm>
        </p:spPr>
        <p:txBody>
          <a:bodyPr/>
          <a:lstStyle/>
          <a:p>
            <a:r>
              <a:rPr lang="en-US" dirty="0"/>
              <a:t>Result: Replication of Graphene Contrast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D2430A-3A08-E55D-4BCC-ECE67203D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776" y="1186102"/>
            <a:ext cx="6255224" cy="36761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D977B9-B1C7-7CBA-8342-C8CA567F6909}"/>
              </a:ext>
            </a:extLst>
          </p:cNvPr>
          <p:cNvSpPr txBox="1"/>
          <p:nvPr/>
        </p:nvSpPr>
        <p:spPr>
          <a:xfrm>
            <a:off x="352040" y="5175057"/>
            <a:ext cx="10809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Successfully replicated the graph from the paper! Yay!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Used the graphene index and SiO</a:t>
            </a:r>
            <a:r>
              <a:rPr lang="en-US" sz="2400" baseline="-25000" dirty="0"/>
              <a:t>2</a:t>
            </a:r>
            <a:r>
              <a:rPr lang="en-US" sz="2400" dirty="0"/>
              <a:t> thickness both as functions of wavelength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SiO</a:t>
            </a:r>
            <a:r>
              <a:rPr lang="en-US" sz="2400" baseline="-25000" dirty="0"/>
              <a:t>2 </a:t>
            </a:r>
            <a:r>
              <a:rPr lang="en-US" sz="2400" dirty="0"/>
              <a:t>at 90 nm is optimal for graphene contrast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981EDD-46ED-018E-906D-3F76DE99E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88" y="1186102"/>
            <a:ext cx="5305316" cy="38098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1B7737-F1EB-D36B-F25D-647D47E45A41}"/>
              </a:ext>
            </a:extLst>
          </p:cNvPr>
          <p:cNvSpPr txBox="1"/>
          <p:nvPr/>
        </p:nvSpPr>
        <p:spPr>
          <a:xfrm>
            <a:off x="125129" y="4692972"/>
            <a:ext cx="1311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Made by me!</a:t>
            </a:r>
          </a:p>
        </p:txBody>
      </p:sp>
    </p:spTree>
    <p:extLst>
      <p:ext uri="{BB962C8B-B14F-4D97-AF65-F5344CB8AC3E}">
        <p14:creationId xmlns:p14="http://schemas.microsoft.com/office/powerpoint/2010/main" val="3837947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DADE-402B-6D82-4473-B90B11CC1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 Blake et al. to Thicker Graphene Layers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D2A1C-11B4-A315-D738-8DC0AB15B7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10" t="29612" r="19684" b="22520"/>
          <a:stretch>
            <a:fillRect/>
          </a:stretch>
        </p:blipFill>
        <p:spPr>
          <a:xfrm>
            <a:off x="6680037" y="2234915"/>
            <a:ext cx="5408964" cy="2851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F21EC0-8C12-CB17-D8D2-08C0EF09E4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14" t="43173" r="32223" b="25412"/>
          <a:stretch>
            <a:fillRect/>
          </a:stretch>
        </p:blipFill>
        <p:spPr>
          <a:xfrm>
            <a:off x="302085" y="2260007"/>
            <a:ext cx="5209880" cy="28510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BE4D49-5CC2-14CD-697F-B3B93E01477F}"/>
              </a:ext>
            </a:extLst>
          </p:cNvPr>
          <p:cNvSpPr txBox="1"/>
          <p:nvPr/>
        </p:nvSpPr>
        <p:spPr>
          <a:xfrm>
            <a:off x="2070898" y="3411416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Changing SiO</a:t>
            </a:r>
            <a:r>
              <a:rPr lang="en-US" b="1" baseline="-25000" dirty="0"/>
              <a:t>2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F967DE-8B92-62E2-A34D-67F3970A1F4E}"/>
              </a:ext>
            </a:extLst>
          </p:cNvPr>
          <p:cNvSpPr txBox="1"/>
          <p:nvPr/>
        </p:nvSpPr>
        <p:spPr>
          <a:xfrm>
            <a:off x="8744615" y="3059668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SiO</a:t>
            </a:r>
            <a:r>
              <a:rPr lang="en-US" b="1" baseline="-25000" dirty="0"/>
              <a:t>2  </a:t>
            </a:r>
            <a:r>
              <a:rPr lang="en-US" b="1" dirty="0"/>
              <a:t>=  90 nm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F9076-0517-0E75-6854-CAA274B79A8F}"/>
              </a:ext>
            </a:extLst>
          </p:cNvPr>
          <p:cNvSpPr txBox="1"/>
          <p:nvPr/>
        </p:nvSpPr>
        <p:spPr>
          <a:xfrm>
            <a:off x="1692895" y="2679064"/>
            <a:ext cx="2488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Graphene = 0.34 nm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2C19B3-9FC5-0532-8AB4-783C4171E0EC}"/>
              </a:ext>
            </a:extLst>
          </p:cNvPr>
          <p:cNvSpPr txBox="1"/>
          <p:nvPr/>
        </p:nvSpPr>
        <p:spPr>
          <a:xfrm>
            <a:off x="8307158" y="2285594"/>
            <a:ext cx="2714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Changing Graphene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FDA697-767B-2380-4FD7-0D8D452DAA59}"/>
              </a:ext>
            </a:extLst>
          </p:cNvPr>
          <p:cNvSpPr txBox="1"/>
          <p:nvPr/>
        </p:nvSpPr>
        <p:spPr>
          <a:xfrm>
            <a:off x="2676530" y="416766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823451-C8D1-2B8D-03A9-CBCFD1E399B2}"/>
              </a:ext>
            </a:extLst>
          </p:cNvPr>
          <p:cNvSpPr txBox="1"/>
          <p:nvPr/>
        </p:nvSpPr>
        <p:spPr>
          <a:xfrm>
            <a:off x="9279278" y="416766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C4397D-DFAE-BBF0-8E06-C9AC1A478DA0}"/>
              </a:ext>
            </a:extLst>
          </p:cNvPr>
          <p:cNvSpPr txBox="1"/>
          <p:nvPr/>
        </p:nvSpPr>
        <p:spPr>
          <a:xfrm>
            <a:off x="838199" y="5418167"/>
            <a:ext cx="9455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Know that 90 nm SiO</a:t>
            </a:r>
            <a:r>
              <a:rPr lang="en-US" sz="2400" baseline="-25000" dirty="0"/>
              <a:t>2</a:t>
            </a:r>
            <a:r>
              <a:rPr lang="en-US" sz="2400" dirty="0"/>
              <a:t> is where the graphene contrast is at a peak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Can make SiO</a:t>
            </a:r>
            <a:r>
              <a:rPr lang="en-US" sz="2400" baseline="-25000" dirty="0"/>
              <a:t>2 </a:t>
            </a:r>
            <a:r>
              <a:rPr lang="en-US" sz="2400" dirty="0"/>
              <a:t>thickness constant to see how changing graphene’s thickness affects the contrast.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37087F-1E70-8025-93F0-35F1BB31F4FC}"/>
              </a:ext>
            </a:extLst>
          </p:cNvPr>
          <p:cNvSpPr txBox="1"/>
          <p:nvPr/>
        </p:nvSpPr>
        <p:spPr>
          <a:xfrm>
            <a:off x="11071309" y="5085925"/>
            <a:ext cx="1173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Made by me!</a:t>
            </a:r>
          </a:p>
        </p:txBody>
      </p:sp>
    </p:spTree>
    <p:extLst>
      <p:ext uri="{BB962C8B-B14F-4D97-AF65-F5344CB8AC3E}">
        <p14:creationId xmlns:p14="http://schemas.microsoft.com/office/powerpoint/2010/main" val="4170060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DB81B28-6367-8330-EE7C-4208E87851E2}"/>
                  </a:ext>
                </a:extLst>
              </p:cNvPr>
              <p:cNvSpPr txBox="1"/>
              <p:nvPr/>
            </p:nvSpPr>
            <p:spPr>
              <a:xfrm>
                <a:off x="5871410" y="1049144"/>
                <a:ext cx="6173044" cy="7137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Contrast dependent on graphene thickness and wavelength, now with a constant SiO</a:t>
                </a:r>
                <a:r>
                  <a:rPr lang="en-US" sz="2400" baseline="-25000" dirty="0"/>
                  <a:t>2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Demonstrates that graphene is best seen with green light at thicknesses of 35 nm to 70 nm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𝑔𝑟𝑎𝑝h𝑒𝑛𝑒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𝑔𝑟𝑎𝑝h𝑒𝑛𝑒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𝑔𝑟𝑎𝑝h𝑒𝑛𝑒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Negative contrast = graphene is more reflective than the substrate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Now can translate this to organic materials!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DB81B28-6367-8330-EE7C-4208E8785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410" y="1049144"/>
                <a:ext cx="6173044" cy="7137018"/>
              </a:xfrm>
              <a:prstGeom prst="rect">
                <a:avLst/>
              </a:prstGeom>
              <a:blipFill>
                <a:blip r:embed="rId2"/>
                <a:stretch>
                  <a:fillRect l="-1283" t="-683" r="-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D6847B8-71E8-9705-AE8C-C4FDD67DAB00}"/>
              </a:ext>
            </a:extLst>
          </p:cNvPr>
          <p:cNvSpPr txBox="1"/>
          <p:nvPr/>
        </p:nvSpPr>
        <p:spPr>
          <a:xfrm>
            <a:off x="204716" y="274895"/>
            <a:ext cx="72780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Effect of Graphene Thickness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A45C3-0955-596E-628E-6B13D6EB770D}"/>
              </a:ext>
            </a:extLst>
          </p:cNvPr>
          <p:cNvSpPr txBox="1"/>
          <p:nvPr/>
        </p:nvSpPr>
        <p:spPr>
          <a:xfrm>
            <a:off x="204716" y="5232624"/>
            <a:ext cx="1173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Made by me!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D6694D-B18E-2131-DDBB-E28D46D56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4336"/>
            <a:ext cx="5720769" cy="418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972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1E25-03A4-A012-7C72-35E72608D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47" y="191870"/>
            <a:ext cx="10515600" cy="1069039"/>
          </a:xfrm>
        </p:spPr>
        <p:txBody>
          <a:bodyPr/>
          <a:lstStyle/>
          <a:p>
            <a:r>
              <a:rPr lang="en-US" dirty="0"/>
              <a:t>Organic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4AD78-F10A-9D53-F92B-CC7D97CA6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67" y="1328286"/>
            <a:ext cx="5861902" cy="50436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Assume a non-absorbing organic material with  </a:t>
            </a:r>
            <a:r>
              <a:rPr lang="en-US" i="1" dirty="0"/>
              <a:t>n</a:t>
            </a:r>
            <a:r>
              <a:rPr lang="en-US" dirty="0"/>
              <a:t> = 1.7 + 0</a:t>
            </a:r>
            <a:r>
              <a:rPr lang="en-US" i="1" dirty="0"/>
              <a:t>i</a:t>
            </a: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Certain thicknesses paired with specific wavelengths are most optimal for contrast.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Green/yellow light paired with 90nm SiO</a:t>
            </a:r>
            <a:r>
              <a:rPr lang="en-US" baseline="-25000" dirty="0"/>
              <a:t>2 </a:t>
            </a:r>
            <a:r>
              <a:rPr lang="en-US"/>
              <a:t>and 40-100 nm </a:t>
            </a:r>
            <a:r>
              <a:rPr lang="en-US" dirty="0"/>
              <a:t>organic thickness</a:t>
            </a:r>
          </a:p>
          <a:p>
            <a:endParaRPr lang="en-US" baseline="-25000" dirty="0"/>
          </a:p>
          <a:p>
            <a:endParaRPr lang="en-US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19067-13D4-85FD-6BBC-5681AAD6083D}"/>
              </a:ext>
            </a:extLst>
          </p:cNvPr>
          <p:cNvSpPr txBox="1"/>
          <p:nvPr/>
        </p:nvSpPr>
        <p:spPr>
          <a:xfrm>
            <a:off x="10533963" y="6581001"/>
            <a:ext cx="15588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Graphs made by me!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0F5C08-A0D8-39E6-BD17-46E06244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071" y="3378571"/>
            <a:ext cx="4533361" cy="3238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8D2F6B-59AF-49EF-04D7-962B9A569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394" y="0"/>
            <a:ext cx="4424054" cy="323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48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1FB6-49EF-EE2C-D25A-7C438C1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3536"/>
          </a:xfrm>
        </p:spPr>
        <p:txBody>
          <a:bodyPr/>
          <a:lstStyle/>
          <a:p>
            <a:r>
              <a:rPr lang="en-US" dirty="0"/>
              <a:t>What I’ve Learn This Summer!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BA69E-2C6C-CB4E-9AC5-5F8120998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415"/>
            <a:ext cx="10515600" cy="47235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Fresnel Equations (both with and without the wave vector)</a:t>
            </a:r>
          </a:p>
          <a:p>
            <a:pPr>
              <a:lnSpc>
                <a:spcPct val="150000"/>
              </a:lnSpc>
            </a:pPr>
            <a:r>
              <a:rPr lang="en-US" dirty="0"/>
              <a:t>I’m now a master at Python</a:t>
            </a:r>
          </a:p>
          <a:p>
            <a:pPr>
              <a:lnSpc>
                <a:spcPct val="150000"/>
              </a:lnSpc>
            </a:pPr>
            <a:r>
              <a:rPr lang="en-US" dirty="0"/>
              <a:t>How to ask for help </a:t>
            </a:r>
          </a:p>
          <a:p>
            <a:pPr>
              <a:lnSpc>
                <a:spcPct val="150000"/>
              </a:lnSpc>
            </a:pPr>
            <a:r>
              <a:rPr lang="en-US" dirty="0"/>
              <a:t>Better social skills</a:t>
            </a:r>
          </a:p>
          <a:p>
            <a:pPr>
              <a:lnSpc>
                <a:spcPct val="150000"/>
              </a:lnSpc>
            </a:pPr>
            <a:r>
              <a:rPr lang="en-US" dirty="0"/>
              <a:t>No one expects me to know everything!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301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144F-0A19-8B6C-E45F-4B84B5071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612" y="162042"/>
            <a:ext cx="10515600" cy="1325563"/>
          </a:xfrm>
        </p:spPr>
        <p:txBody>
          <a:bodyPr/>
          <a:lstStyle/>
          <a:p>
            <a:r>
              <a:rPr lang="en-US" dirty="0"/>
              <a:t>Acknowledgements           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A0AEA-C44F-559B-55EE-60EC36E2B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481" y="1487605"/>
            <a:ext cx="5142931" cy="4689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Dr. Lloyd Bumm (best mentor ever)</a:t>
            </a:r>
          </a:p>
          <a:p>
            <a:pPr marL="0" indent="0">
              <a:buNone/>
            </a:pPr>
            <a:r>
              <a:rPr lang="en-US" sz="2400" dirty="0"/>
              <a:t>Mikey Walkup</a:t>
            </a:r>
          </a:p>
          <a:p>
            <a:pPr marL="0" indent="0">
              <a:buNone/>
            </a:pPr>
            <a:r>
              <a:rPr lang="en-US" sz="2400" dirty="0"/>
              <a:t>Steven Raybould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D1F799-5E4E-C1DB-A732-BA424713E992}"/>
              </a:ext>
            </a:extLst>
          </p:cNvPr>
          <p:cNvSpPr txBox="1">
            <a:spLocks/>
          </p:cNvSpPr>
          <p:nvPr/>
        </p:nvSpPr>
        <p:spPr>
          <a:xfrm>
            <a:off x="6260909" y="1487605"/>
            <a:ext cx="5355610" cy="4689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        P. Blake, E. W. Hill, A. H. Castro Neto, K. S. Novoselov, D. Jiang, R. Yang, T. J. Booth, A. K. Geim; Making Graphene Visible. </a:t>
            </a:r>
            <a:r>
              <a:rPr lang="en-US" sz="1800" i="1" dirty="0"/>
              <a:t>Appl. Phys. Lett.</a:t>
            </a:r>
            <a:r>
              <a:rPr lang="en-US" sz="1800" dirty="0"/>
              <a:t> 6 August 2007; 91 (6): 063124. </a:t>
            </a:r>
            <a:r>
              <a:rPr lang="en-US" sz="1800" dirty="0">
                <a:hlinkClick r:id="rId2"/>
              </a:rPr>
              <a:t>https://doi.org/10.1063/1.2768624</a:t>
            </a: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dirty="0"/>
              <a:t>        Wikipedia contributors. (2026, June 26). Fresnel equations. In </a:t>
            </a:r>
            <a:r>
              <a:rPr lang="en-US" sz="1800" i="1" dirty="0"/>
              <a:t>Wikipedia, The Free Encyclopedia</a:t>
            </a:r>
            <a:r>
              <a:rPr lang="en-US" sz="1800" dirty="0"/>
              <a:t>. Retrieved 21:30, July 20, 2026, from </a:t>
            </a:r>
            <a:r>
              <a:rPr lang="en-US" sz="1800" dirty="0">
                <a:hlinkClick r:id="rId3"/>
              </a:rPr>
              <a:t>https://en.wikipedia.org/w/index.php?title=Fresnel_equations&amp;oldid=1361158557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Wikipedia</a:t>
            </a:r>
            <a:r>
              <a:rPr lang="en-US" sz="1600" dirty="0"/>
              <a:t> contributors. (2026, July 12). Transfer-matrix method (optics). In </a:t>
            </a:r>
            <a:r>
              <a:rPr lang="en-US" sz="1600" i="1" dirty="0"/>
              <a:t>Wikipedia, The Free Encyclopedia</a:t>
            </a:r>
            <a:r>
              <a:rPr lang="en-US" sz="1600" dirty="0"/>
              <a:t>. Retrieved 16:39, July 21, 2026, from </a:t>
            </a:r>
            <a:r>
              <a:rPr lang="en-US" sz="1600" dirty="0">
                <a:hlinkClick r:id="rId4"/>
              </a:rPr>
              <a:t>https://en.wikipedia.org/w/index.php?title=Transfer-matrix_method_(optics)&amp;oldid=1363830099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50138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6F6F-EB50-E323-5899-42305C236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610" y="1368544"/>
            <a:ext cx="10515600" cy="2852737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4" name="Picture 3" descr="How I look like | Memes, Goofy drawing, Funny doodles">
            <a:extLst>
              <a:ext uri="{FF2B5EF4-FFF2-40B4-BE49-F238E27FC236}">
                <a16:creationId xmlns:a16="http://schemas.microsoft.com/office/drawing/2014/main" id="{DF5133DE-4174-8E55-62CA-3A7CBACA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13"/>
          <a:stretch>
            <a:fillRect/>
          </a:stretch>
        </p:blipFill>
        <p:spPr>
          <a:xfrm>
            <a:off x="5125937" y="1175414"/>
            <a:ext cx="6788147" cy="568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29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EF0C-7920-36D6-813A-73E1B8CB6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All So Much! Best Summer Ever! &lt;3</a:t>
            </a:r>
          </a:p>
        </p:txBody>
      </p:sp>
      <p:pic>
        <p:nvPicPr>
          <p:cNvPr id="5" name="Picture 4" descr="Feeling silly | Drawing meme, Goofy drawing, Little doodles">
            <a:extLst>
              <a:ext uri="{FF2B5EF4-FFF2-40B4-BE49-F238E27FC236}">
                <a16:creationId xmlns:a16="http://schemas.microsoft.com/office/drawing/2014/main" id="{EB196A31-A8F7-316B-BDDD-2677C6745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10521"/>
            <a:ext cx="4991100" cy="494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61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1123</Words>
  <Application>Microsoft Office PowerPoint</Application>
  <PresentationFormat>Widescreen</PresentationFormat>
  <Paragraphs>160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Wingdings</vt:lpstr>
      <vt:lpstr>Office Theme</vt:lpstr>
      <vt:lpstr>Visualizing 2D Materials Using Multi-Layered Structures</vt:lpstr>
      <vt:lpstr>Motivation Behind Project</vt:lpstr>
      <vt:lpstr>PowerPoint Presentation</vt:lpstr>
      <vt:lpstr>Goal</vt:lpstr>
      <vt:lpstr>Reflection and Transmission Coefficients Fresnel Equations</vt:lpstr>
      <vt:lpstr>Testing Fresnel Equations/Coefficients</vt:lpstr>
      <vt:lpstr>Multi-Layered Structures</vt:lpstr>
      <vt:lpstr>Transfer Matrix</vt:lpstr>
      <vt:lpstr>PowerPoint Presentation</vt:lpstr>
      <vt:lpstr>Scattering Matrix </vt:lpstr>
      <vt:lpstr>Result: Replication of Graphene Contrast</vt:lpstr>
      <vt:lpstr>Extend Blake et al. to Thicker Graphene Layers</vt:lpstr>
      <vt:lpstr>PowerPoint Presentation</vt:lpstr>
      <vt:lpstr>Organic Materials</vt:lpstr>
      <vt:lpstr>What I’ve Learn This Summer!</vt:lpstr>
      <vt:lpstr>Acknowledgements            References</vt:lpstr>
      <vt:lpstr>Questions?</vt:lpstr>
      <vt:lpstr>Thank You All So Much! Best Summer Ever! &lt;3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stargurl xc</dc:creator>
  <cp:lastModifiedBy>stargurl xc</cp:lastModifiedBy>
  <cp:revision>15</cp:revision>
  <dcterms:created xsi:type="dcterms:W3CDTF">2026-07-13T20:20:14Z</dcterms:created>
  <dcterms:modified xsi:type="dcterms:W3CDTF">2026-07-22T15:18:45Z</dcterms:modified>
</cp:coreProperties>
</file>